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6366F1"/>
                </a:solidFill>
              </a:rPr>
              <a:t>OUTGOING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Analise de Contatos Respondidos por CUS_CUST_ID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37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Equipes: BR_ME_Pre-Despacho_Offline  |  BR_MLPostVenda_Offline  |  BR_MLPreVenda_Offline  |  BR_Prustomer_Offline
BR_ME_Sellers_Longtail  |  BR_Publicaciones_Sellers_Longtail  |  BR_Ventas_Sellers_Longtail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ci_event_name = OUTGOING_CONTACT  |  OUTGOING_FIRST_CONTACT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Periodo: 01/Mar - 16/Abr/2026   |   Top 20 Clientes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74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Total Geral: 3,489 outgoing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Gerado em 16/04/2026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Visao Geral - Evolucao Semanal Top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01/Mar - 16/Abr/2026  |  Stacked por cliente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04672"/>
            <a:ext cx="7315200" cy="31089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804672"/>
            <a:ext cx="4114800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4114800"/>
            <a:ext cx="1828800" cy="960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178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Total Geral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3616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3,489</a:t>
            </a:r>
          </a:p>
        </p:txBody>
      </p:sp>
      <p:sp>
        <p:nvSpPr>
          <p:cNvPr id="9" name="Rectangle 8"/>
          <p:cNvSpPr/>
          <p:nvPr/>
        </p:nvSpPr>
        <p:spPr>
          <a:xfrm>
            <a:off x="2212848" y="4114800"/>
            <a:ext cx="1828800" cy="960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4178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Marco/26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43616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2,431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4114800"/>
            <a:ext cx="1828800" cy="960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4178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Abril/26 (ate 16)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43616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1,058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4114800"/>
            <a:ext cx="1828800" cy="960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4178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S4 (7-13/Abr)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43616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470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2" y="4114800"/>
            <a:ext cx="1828800" cy="960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4178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S5 (14-16/Abr)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43616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4114800"/>
            <a:ext cx="1828800" cy="960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4178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Top 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3616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84636219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Mes vs Mes - Top 20 Clientes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Marco/2026 vs Abril/2026 (ate 16)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04672"/>
            <a:ext cx="1161288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4645152"/>
            <a:ext cx="4983480" cy="1965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4672584"/>
            <a:ext cx="2743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4672584"/>
            <a:ext cx="13716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CUS_CUST_ID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8256" y="4672584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Mar/26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1216" y="4672584"/>
            <a:ext cx="8686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Abr/26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5615" y="4672584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4672584"/>
            <a:ext cx="6400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Var%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841748"/>
            <a:ext cx="498348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" y="4869180"/>
            <a:ext cx="2743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4869180"/>
            <a:ext cx="13716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84636219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4869180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613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4869180"/>
            <a:ext cx="8686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5" y="4869180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619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869180"/>
            <a:ext cx="6400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-99%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038344"/>
            <a:ext cx="4983480" cy="196596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5065776"/>
            <a:ext cx="2743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5065776"/>
            <a:ext cx="13716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2664352051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48256" y="5065776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71216" y="5065776"/>
            <a:ext cx="8686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5615" y="5065776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5065776"/>
            <a:ext cx="6400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-36%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234940"/>
            <a:ext cx="498348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5262372"/>
            <a:ext cx="2743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" y="5262372"/>
            <a:ext cx="13716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154804479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48256" y="5262372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71216" y="5262372"/>
            <a:ext cx="8686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85615" y="5262372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8576" y="5262372"/>
            <a:ext cx="6400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+264%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431536"/>
            <a:ext cx="4983480" cy="196596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" y="5458968"/>
            <a:ext cx="2743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" y="5458968"/>
            <a:ext cx="13716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456794404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48256" y="5458968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71216" y="5458968"/>
            <a:ext cx="8686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85615" y="5458968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8576" y="5458968"/>
            <a:ext cx="6400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-76%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628132"/>
            <a:ext cx="498348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" y="5655564"/>
            <a:ext cx="2743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" y="5655564"/>
            <a:ext cx="13716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2358605416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48256" y="5655564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71216" y="5655564"/>
            <a:ext cx="8686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5615" y="5655564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166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8576" y="5655564"/>
            <a:ext cx="6400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-60%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824728"/>
            <a:ext cx="4983480" cy="196596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5852160"/>
            <a:ext cx="2743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" y="5852160"/>
            <a:ext cx="13716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154509696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48256" y="5852160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96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71216" y="5852160"/>
            <a:ext cx="8686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59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5615" y="5852160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155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08576" y="5852160"/>
            <a:ext cx="6400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-38%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6021324"/>
            <a:ext cx="498348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896" y="6048756"/>
            <a:ext cx="2743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" y="6048756"/>
            <a:ext cx="13716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2590237123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48256" y="6048756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92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71216" y="6048756"/>
            <a:ext cx="8686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57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85615" y="6048756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149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08576" y="6048756"/>
            <a:ext cx="6400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-38%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6217920"/>
            <a:ext cx="4983480" cy="196596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6245352"/>
            <a:ext cx="2743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" y="6245352"/>
            <a:ext cx="13716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2619999305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48256" y="6245352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72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71216" y="6245352"/>
            <a:ext cx="8686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72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85615" y="6245352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144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08576" y="6245352"/>
            <a:ext cx="6400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+0%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6414516"/>
            <a:ext cx="498348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0896" y="6441948"/>
            <a:ext cx="2743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" y="6441948"/>
            <a:ext cx="13716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1182029748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48256" y="6441948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71216" y="6441948"/>
            <a:ext cx="8686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61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85615" y="6441948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141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08576" y="6441948"/>
            <a:ext cx="6400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-23%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6611112"/>
            <a:ext cx="4983480" cy="196596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10896" y="6638544"/>
            <a:ext cx="2743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936" y="6638544"/>
            <a:ext cx="13716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3005130274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48256" y="6638544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90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71216" y="6638544"/>
            <a:ext cx="8686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85615" y="6638544"/>
            <a:ext cx="7772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137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08576" y="6638544"/>
            <a:ext cx="64008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-47%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Evolucao Semanal - Heatmap Top 20 x Periodos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#1  Cliente: 84636219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Total: 619 outgoing  |  01/Mar - 16/Abr/2026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1-16/Mar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414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193% vs 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85% vs 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91% vs 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8432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80% vs ant.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100% vs ant.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5648"/>
            <a:ext cx="5029200" cy="265176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55648"/>
            <a:ext cx="5029200" cy="2651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4320" y="455371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Top Motivos - Processo / CDU / Solucao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46320"/>
            <a:ext cx="10927080" cy="1920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487375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Processo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2576" y="487375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CDU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1376" y="487375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Solucao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87375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Qtd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38344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06577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 - Propiedad intelectual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2576" y="506577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Fakes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506577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Propiedad intelectual - Factura inválida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2176" y="506577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192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230368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525780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 - Propiedad intelectual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525780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Fakes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525780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Propiedad Intelectual - Aprobamos factura y reactivamos la publicación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25780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157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22392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5449824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 - Propiedad intelectual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2576" y="5449824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1376" y="5449824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 Bugs - Pedido de datos por posible error (OFFLINE)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2176" y="5449824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614416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5641848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 - Propiedad intelectual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2576" y="5641848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Publicación activa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1376" y="5641848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Consultas generales - La publicación se encuentra activa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52176" y="5641848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806440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583387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 - Propiedad intelectual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2576" y="583387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Acuerdos Comerciales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51376" y="583387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Propiedad Intelectual - Producto de marca de publicación limitada (Goldlist - Ga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52176" y="583387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998464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602589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 - Propiedad intelectual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22576" y="602589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Fakes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51376" y="602589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Propiedad intelectual - Pedimos factura (Fakes)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52176" y="602589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6190488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621792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 - Propiedad intelectual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22576" y="621792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Fakes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51376" y="621792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Propiedad Intelectual - Fakes, moderamos publicación eliminada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2176" y="621792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#2  Cliente: 2664352051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Total: 355 outgoing  |  01/Mar - 16/Abr/2026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1-16/Mar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54% vs 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3% vs 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16% vs 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8432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22% vs ant.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22% vs ant.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5648"/>
            <a:ext cx="5029200" cy="265176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55648"/>
            <a:ext cx="5029200" cy="2651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4320" y="455371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Top Motivos - Processo / CDU / Solucao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46320"/>
            <a:ext cx="10927080" cy="1920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487375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Processo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2576" y="487375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CDU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1376" y="487375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Solucao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87375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Qtd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38344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06577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2576" y="506577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506577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 Bugs - Pedido de datos por posible error (OFFLINE)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2176" y="506577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230368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525780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Reversa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525780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Quiere consultar por una dev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525780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En devolución: dentro de la promesa de entrega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25780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22392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5449824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2576" y="5449824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Devoluciones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1376" y="5449824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Devoluciones - Recibió devolución fallida, guiamos a cómo reclamar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2176" y="5449824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614416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5641848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2576" y="5641848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Devoluciones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1376" y="5641848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Devoluciones: Dudas Reversa: Número de devolución -  Debe esperar a que se gener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52176" y="5641848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806440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583387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2576" y="583387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51376" y="583387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 Bugs - Pedido de datos por posible error (OFFLINE)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52176" y="583387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998464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602589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22576" y="602589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Devoluciones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51376" y="602589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Devoluciones - Fuera de plazo de reclamo (V)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52176" y="602589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6190488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621792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22576" y="621792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Devoluciones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51376" y="621792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Devoluciones - Dentro de la promesa de entrega (V)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2176" y="621792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#3  Cliente: 154804479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Total: 265 outgoing  |  01/Mar - 16/Abr/2026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1-16/Mar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33% vs 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65% vs 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771% vs 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8432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111% vs ant.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86% vs ant.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5648"/>
            <a:ext cx="5029200" cy="265176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55648"/>
            <a:ext cx="5029200" cy="2651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4320" y="455371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Top Motivos - Processo / CDU / Solucao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46320"/>
            <a:ext cx="10927080" cy="1920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487375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Processo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2576" y="487375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CDU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1376" y="487375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Solucao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87375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Qtd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38344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06577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2576" y="506577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HT - Ventas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506577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 Ventas: Vendedor newbie - Excluimos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2176" y="506577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230368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525780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525780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525780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 Bugs - Pedido de datos por posible error (OFFLINE)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25780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22392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5449824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2576" y="5449824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HT - Ventas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1376" y="5449824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 Ventas: Logística Places - Excluimos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2176" y="5449824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614416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5641848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2576" y="5641848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1376" y="5641848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Pedido de datos - Solicitamos datos para gestión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52176" y="5641848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806440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583387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2576" y="583387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HT - Ventas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51376" y="583387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 Ventas: Envío no afecta al HT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52176" y="583387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998464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602589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Despacho Ventas y Publicacione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22576" y="602589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51376" y="602589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Pedido de datos - Solicitamos datos para gestión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52176" y="602589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6190488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621792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22576" y="621792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HT - Colecta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51376" y="621792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 Colecta XD: colecta pendiente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2176" y="621792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#4  Cliente: 456794404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Total: 204 outgoing  |  01/Mar - 16/Abr/2026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1-16/Mar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174% vs 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13% vs 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93% vs 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8432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675% vs ant.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87% vs ant.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5648"/>
            <a:ext cx="5029200" cy="265176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55648"/>
            <a:ext cx="5029200" cy="2651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4320" y="455371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Top Motivos - Processo / CDU / Solucao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46320"/>
            <a:ext cx="10927080" cy="1920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487375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Processo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2576" y="487375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CDU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1376" y="487375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Solucao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87375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Qtd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38344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06577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Despacho Ventas y Publicacione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2576" y="506577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506577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Pedido de datos - Solicitamos datos para gestión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2176" y="506577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230368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525780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Despacho Ventas y Publicacione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525780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Problemas para despachar un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525780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Reactivar ME: No reactivamos - indicamos motivo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25780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22392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5449824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Despacho Ventas y Publicacione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2576" y="5449824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1376" y="5449824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 Bugs - Pedido de datos por posible error (OFFLINE)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2176" y="5449824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614416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5641848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2576" y="5641848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1376" y="5641848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Costos -  No cobramos costo de envío en esta devolución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52176" y="5641848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806440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583387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2576" y="583387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51376" y="583387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 Bugs - Pedido de datos por posible error (OFFLINE)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52176" y="583387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998464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602589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Despacho Ventas y Publicacione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22576" y="602589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51376" y="602589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Consulta derivada - Pendiente de respuesta por equipo responsable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52176" y="602589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6190488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621792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Despacho Ventas y Publicacione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22576" y="621792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Cancelaciones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51376" y="621792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Cancelado Fraudulento: Auto oferta (V)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2176" y="621792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#5  Cliente: 2358605416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Total: 166 outgoing  |  01/Mar - 16/Abr/2026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1-16/Mar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70% vs 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55% vs 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41% vs 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8432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16% vs ant.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61% vs ant.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5648"/>
            <a:ext cx="5029200" cy="265176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55648"/>
            <a:ext cx="5029200" cy="2651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4320" y="455371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Top Motivos - Processo / CDU / Solucao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46320"/>
            <a:ext cx="10927080" cy="1920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487375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Processo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2576" y="487375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CDU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1376" y="487375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Solucao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87375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Qtd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38344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06577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Viaje del paquete - Vendedor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2576" y="506577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Tiene dudas sobre el estado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506577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Envío confiscado - debe contactarse con organismo (V)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2176" y="506577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230368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525780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Despacho Ventas y Publicacione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525780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525780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 Bugs - Pedido de datos por posible error (OFFLINE)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25780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22392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5449824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2576" y="5449824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Reclamos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1376" y="5449824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Analizamos reputación - Reclamo afecta la reputación por producto defectuoso y 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2176" y="5449824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614416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5641848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2576" y="5641848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Mediación cerrada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1376" y="5641848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Mediación cerrada - Pedimos revisión de la mediación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52176" y="5641848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806440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583387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Viaje del paquete - Vendedor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2576" y="583387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51376" y="583387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Pedido de datos - Solicitamos datos para gestión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52176" y="583387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998464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602589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22576" y="602589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Costos de devolución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51376" y="602589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Costos - Costo de devolución cobrado al vendedor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52176" y="602589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6190488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621792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Reversa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22576" y="621792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Quiere consultar por una dev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51376" y="621792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Devolución demorada: pasaron 60 días - no bonificamos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2176" y="621792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#6  Cliente: 154509696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Total: 155 outgoing  |  01/Mar - 16/Abr/2026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1-16/Mar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66% vs 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70% vs 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13% vs 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8432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48% vs ant.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47% vs ant.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5648"/>
            <a:ext cx="5029200" cy="265176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55648"/>
            <a:ext cx="5029200" cy="2651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4320" y="455371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Top Motivos - Processo / CDU / Solucao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46320"/>
            <a:ext cx="10927080" cy="1920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487375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Processo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2576" y="487375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CDU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1376" y="487375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Solucao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87375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Qtd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38344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06577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2576" y="506577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Reclamos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506577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Analizamos reputación - Reclamo afecta la reputación y excluimos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2176" y="506577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65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230368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525780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525780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Reclamos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525780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Analizamos reputación - Reclamo revisado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25780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22392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5449824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2576" y="5449824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Reclamos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1376" y="5449824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Analizamos reputación - Reclamo afecta la reputación por producto no recibido y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2176" y="5449824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614416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5641848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2576" y="5641848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Reclamos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1376" y="5641848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Analizamos reputación - Reclamo afecta la reputación por producto diferente y 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52176" y="5641848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806440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583387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2576" y="583387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51376" y="583387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(sem solucao)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52176" y="583387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998464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602589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22576" y="602589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Mediación abierta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51376" y="602589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Mediación abierta - Consulta por reputación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52176" y="602589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6190488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621792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22576" y="621792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Cancelaciones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51376" y="621792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Analizamos reputación - Cancelación afecta la reputación y excluimos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2176" y="621792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#7  Cliente: 2590237123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Total: 149 outgoing  |  01/Mar - 16/Abr/2026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1-16/Mar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3900% vs 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27% vs 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13% vs 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8432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70% vs ant.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100% vs ant.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5648"/>
            <a:ext cx="5029200" cy="265176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55648"/>
            <a:ext cx="5029200" cy="2651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4320" y="455371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Top Motivos - Processo / CDU / Solucao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46320"/>
            <a:ext cx="10927080" cy="1920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487375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Processo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2576" y="487375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CDU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1376" y="487375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Solucao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87375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Qtd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38344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06577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2576" y="506577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Mediación abierta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506577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Mediación abierta - Consulta por reputación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2176" y="506577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230368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525780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 - Propiedad intelectual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525780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Fakes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525780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Propiedad Intelectual - Publicación inactiva por infringir políticas de producto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25780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22392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5449824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2576" y="5449824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Reclamos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1376" y="5449824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Analizamos reputación - Reclamo revisado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2176" y="5449824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614416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5641848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 - Propiedad intelectual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2576" y="5641848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Rollback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1376" y="5641848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Propiedad Intelectual - Quitamos la moderación para reactivar la publicación (Ro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52176" y="5641848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806440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583387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2576" y="583387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Reclamos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51376" y="583387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Analizamos reputación - Reclamo afecta la reputación y excluimos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52176" y="583387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998464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602589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 - Propiedad intelectual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22576" y="602589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Fakes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51376" y="602589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Propiedad Intelectual - Publicación moderada por reseñas, mensajes y/o reclamos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52176" y="602589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6190488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621792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 - Propiedad intelectual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22576" y="621792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Publicación activa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51376" y="621792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Consultas generales - La publicación se encuentra activa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2176" y="621792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#8  Cliente: 2619999305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Total: 144 outgoing  |  01/Mar - 16/Abr/2026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1-16/Mar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100% vs 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50% vs 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13% vs 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8432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3% vs ant.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63% vs ant.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5648"/>
            <a:ext cx="5029200" cy="265176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55648"/>
            <a:ext cx="5029200" cy="2651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4320" y="455371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Top Motivos - Processo / CDU / Solucao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46320"/>
            <a:ext cx="10927080" cy="1920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487375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Processo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2576" y="487375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CDU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1376" y="487375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Solucao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87375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Qtd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38344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06577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2576" y="506577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506577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Pedido de datos - Solicitamos datos para gestión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2176" y="506577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230368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525780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Reversa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525780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Quiere consultar por una dev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525780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En devolución: dentro de la promesa de entrega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25780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22392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5449824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2576" y="5449824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1376" y="5449824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 Bugs - Pedido de datos por posible error (OFFLINE)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2176" y="5449824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614416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5641848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2576" y="5641848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Reclamos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1376" y="5641848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Analizamos reputación - Reclamo no afecta la reputación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52176" y="5641848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806440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583387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2576" y="583387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Devoluciones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51376" y="583387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Devoluciones - nueva fecha limite (V)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52176" y="583387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998464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602589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Facturación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22576" y="602589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Generales Facturación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51376" y="602589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Facturación - General: Confirmamos operación o duda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52176" y="602589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6190488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621792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Despacho Ventas y Publicacione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22576" y="621792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51376" y="621792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Pedido de datos - Solicitamos datos para gestión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2176" y="621792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#9  Cliente: 1182029748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Total: 141 outgoing  |  01/Mar - 16/Abr/2026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1-16/Mar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60% vs 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17% vs 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60% vs 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8432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262% vs ant.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17% vs ant.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5648"/>
            <a:ext cx="5029200" cy="265176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55648"/>
            <a:ext cx="5029200" cy="2651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4320" y="455371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Top Motivos - Processo / CDU / Solucao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46320"/>
            <a:ext cx="10927080" cy="1920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487375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Processo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2576" y="487375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CDU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1376" y="487375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Solucao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87375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Qtd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38344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06577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 - Propiedad intelectual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2576" y="506577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506577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 Bugs - Pedido de datos por posible error (OFFLINE)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2176" y="506577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230368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525780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 - Técnica prohibida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525780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Histórico de infracciones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525780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Consejos PR - Consulta informativa sobre histórico de infracciones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25780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22392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5449824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Despacho Ventas y Publicacione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2576" y="5449824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Reclama por el costo de enví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1376" y="5449824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Envio a cargo del V: indicamos cómo cargar dimensiones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2176" y="5449824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614416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5641848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 - Propiedad intelectual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2576" y="5641848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Fakes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1376" y="5641848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Propiedad intelectual - Factura inválida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52176" y="5641848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806440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583387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2576" y="583387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Devoluciones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51376" y="583387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Devoluciones - Recibió devolución fallida, guiamos a cómo reclamar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52176" y="583387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998464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602589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22576" y="602589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51376" y="602589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Analizamos reputación - Cancelación afecta la reputación y excluimos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52176" y="602589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6190488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621792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22576" y="621792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Mediación cerrada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51376" y="621792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Mediación cerrada - Pedimos revisión de la mediación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2176" y="621792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#10  Cliente: 3005130274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Total: 137 outgoing  |  01/Mar - 16/Abr/2026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1-16/Mar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42% vs 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75% vs 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68% vs 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8432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</a:rPr>
              <a:t>▼ 36% vs ant.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749808"/>
            <a:ext cx="1828800" cy="868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8138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S5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9966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325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▲ 314% vs ant.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5648"/>
            <a:ext cx="5029200" cy="265176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55648"/>
            <a:ext cx="5029200" cy="2651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4320" y="455371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Top Motivos - Processo / CDU / Solucao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46320"/>
            <a:ext cx="10927080" cy="1920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487375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Processo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2576" y="487375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CDU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1376" y="487375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Solucao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87375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Qtd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38344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06577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2576" y="506577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HT - Ventas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506577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 Ventas: Logística Places - Excluimos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2176" y="506577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65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230368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525780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525780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HT - Ventas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525780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 Ventas: Logística Places - No excluimos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176" y="525780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22392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5449824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2576" y="5449824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HT - Ventas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1376" y="5449824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 Ventas: Vendedor newbie - Excluimos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2176" y="5449824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614416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5641848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Despacho Ventas y Publicacione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2576" y="5641848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Problemas para despachar un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1376" y="5641848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Activar ME: Cómo activar el servicio en sus publicaciones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52176" y="5641848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806440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5833872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2576" y="5833872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51376" y="5833872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Pedido de datos - Solicitamos datos para gestión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52176" y="583387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998464"/>
            <a:ext cx="10927080" cy="192024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6025896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Reputación 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22576" y="6025896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51376" y="6025896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 Contactos - Solicitud de datos y/o ampliación de consulta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52176" y="6025896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6190488"/>
            <a:ext cx="10927080" cy="19202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6217920"/>
            <a:ext cx="1965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Post Compra Funcionalidades 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22576" y="6217920"/>
            <a:ext cx="1783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Generales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51376" y="6217920"/>
            <a:ext cx="6355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Pedido de datos - Solicitamos datos para gestión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2176" y="621792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